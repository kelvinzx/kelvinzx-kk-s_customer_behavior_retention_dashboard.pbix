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04/09/26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04/09/26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7560" y="2554846"/>
            <a:ext cx="8056880" cy="144655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KK’s Customer Behavior &amp; Retention Dashboard</a:t>
            </a:r>
          </a:p>
          <a:p>
            <a:pPr algn="ctr">
              <a:defRPr sz="1100">
                <a:solidFill>
                  <a:srgbClr val="5A5A5A"/>
                </a:solidFill>
              </a:defRPr>
            </a:pPr>
            <a:r>
              <a:rPr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Power BI Analysis of Customer Segments, Retention, and Purchase Behavior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D1FDA5E-431F-43C1-8351-DFB46A4A7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362" y="5258828"/>
            <a:ext cx="6607277" cy="84122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Prepared by: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Kelvin Etisi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Tool Used: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Type: </a:t>
            </a:r>
            <a:r>
              <a:rPr lang="en-US" sz="1600" dirty="0"/>
              <a:t>Customer Analytics Dashboard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C85243-7FEE-4337-B190-52C123DF6F79}"/>
              </a:ext>
            </a:extLst>
          </p:cNvPr>
          <p:cNvGrpSpPr/>
          <p:nvPr/>
        </p:nvGrpSpPr>
        <p:grpSpPr>
          <a:xfrm>
            <a:off x="355600" y="6238240"/>
            <a:ext cx="11440160" cy="418592"/>
            <a:chOff x="355600" y="6238240"/>
            <a:chExt cx="11440160" cy="41859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D18ACE-863B-4F63-A617-481AEF02EAC3}"/>
                </a:ext>
              </a:extLst>
            </p:cNvPr>
            <p:cNvSpPr/>
            <p:nvPr/>
          </p:nvSpPr>
          <p:spPr>
            <a:xfrm>
              <a:off x="365760" y="6238240"/>
              <a:ext cx="11430000" cy="418592"/>
            </a:xfrm>
            <a:prstGeom prst="rect">
              <a:avLst/>
            </a:prstGeom>
            <a:solidFill>
              <a:srgbClr val="215BB0"/>
            </a:solidFill>
            <a:ln>
              <a:solidFill>
                <a:srgbClr val="215B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0300FA-D573-4188-B086-EEFDDA91F811}"/>
                </a:ext>
              </a:extLst>
            </p:cNvPr>
            <p:cNvSpPr txBox="1"/>
            <p:nvPr/>
          </p:nvSpPr>
          <p:spPr>
            <a:xfrm>
              <a:off x="355600" y="6362276"/>
              <a:ext cx="2515432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>
                  <a:solidFill>
                    <a:srgbClr val="5A5A5A"/>
                  </a:solidFill>
                </a:defRPr>
              </a:pPr>
              <a:r>
                <a:rPr sz="1050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Built in Power BI by K</a:t>
              </a:r>
              <a:r>
                <a:rPr lang="en-US" sz="1050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elvin Etisi</a:t>
              </a:r>
              <a:endParaRPr sz="1050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17085"/>
            <a:ext cx="473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was created to analyze customer purchasing activity and uncover meaningful business insights.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focused on customer segments, repeat purchase behavior, retention patterns, and spending habits.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was to help a business better understand who its customers are, how often they return, and how they purchase.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dashboard was structured into three key analytical views: Overview, Retention, and Purchase Behavior.</a:t>
            </a:r>
          </a:p>
        </p:txBody>
      </p:sp>
      <p:pic>
        <p:nvPicPr>
          <p:cNvPr id="4" name="Picture 3" descr="a4e10ae3-f2a7-49aa-88ac-bbced8e1f2af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97176"/>
            <a:ext cx="4937760" cy="280563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699D747-1FCF-494D-8D82-C4BFC5276BA3}"/>
              </a:ext>
            </a:extLst>
          </p:cNvPr>
          <p:cNvGrpSpPr/>
          <p:nvPr/>
        </p:nvGrpSpPr>
        <p:grpSpPr>
          <a:xfrm>
            <a:off x="355600" y="6238240"/>
            <a:ext cx="11440160" cy="418592"/>
            <a:chOff x="355600" y="6238240"/>
            <a:chExt cx="11440160" cy="41859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684437-3D02-4D5E-906E-BB776D5BF23E}"/>
                </a:ext>
              </a:extLst>
            </p:cNvPr>
            <p:cNvSpPr/>
            <p:nvPr/>
          </p:nvSpPr>
          <p:spPr>
            <a:xfrm>
              <a:off x="365760" y="6238240"/>
              <a:ext cx="11430000" cy="418592"/>
            </a:xfrm>
            <a:prstGeom prst="rect">
              <a:avLst/>
            </a:prstGeom>
            <a:solidFill>
              <a:srgbClr val="215BB0"/>
            </a:solidFill>
            <a:ln>
              <a:solidFill>
                <a:srgbClr val="215B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C4EB347-53E7-488F-A0AB-BBDD1CC4E818}"/>
                </a:ext>
              </a:extLst>
            </p:cNvPr>
            <p:cNvSpPr txBox="1"/>
            <p:nvPr/>
          </p:nvSpPr>
          <p:spPr>
            <a:xfrm>
              <a:off x="355600" y="6362276"/>
              <a:ext cx="2515432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>
                  <a:solidFill>
                    <a:srgbClr val="5A5A5A"/>
                  </a:solidFill>
                </a:defRPr>
              </a:pPr>
              <a:r>
                <a:rPr sz="1050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Built in Power BI by K</a:t>
              </a:r>
              <a:r>
                <a:rPr lang="en-US" sz="1050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elvin Etisi</a:t>
              </a:r>
              <a:endParaRPr sz="1050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53237"/>
            <a:ext cx="463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1783080"/>
            <a:ext cx="585216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customer segments</a:t>
            </a:r>
          </a:p>
          <a:p>
            <a:pPr>
              <a:spcAft>
                <a:spcPts val="800"/>
              </a:spcAft>
              <a:defRPr sz="22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customer retention and repeat behavior</a:t>
            </a:r>
          </a:p>
          <a:p>
            <a:pPr>
              <a:spcAft>
                <a:spcPts val="800"/>
              </a:spcAft>
              <a:defRPr sz="22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spending patterns</a:t>
            </a:r>
          </a:p>
          <a:p>
            <a:pPr>
              <a:spcAft>
                <a:spcPts val="800"/>
              </a:spcAft>
              <a:defRPr sz="22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customers purchase across channels, devices, and payment methods</a:t>
            </a:r>
          </a:p>
          <a:p>
            <a:pPr>
              <a:spcAft>
                <a:spcPts val="800"/>
              </a:spcAft>
              <a:defRPr sz="22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better business decision-making through visual analytics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06D9CF-E785-4211-8043-7DDB0FD87600}"/>
              </a:ext>
            </a:extLst>
          </p:cNvPr>
          <p:cNvGrpSpPr/>
          <p:nvPr/>
        </p:nvGrpSpPr>
        <p:grpSpPr>
          <a:xfrm>
            <a:off x="6949440" y="2286000"/>
            <a:ext cx="4754880" cy="1280160"/>
            <a:chOff x="6583680" y="1463040"/>
            <a:chExt cx="4754880" cy="1280160"/>
          </a:xfrm>
        </p:grpSpPr>
        <p:sp>
          <p:nvSpPr>
            <p:cNvPr id="4" name="Rounded Rectangle 3"/>
            <p:cNvSpPr/>
            <p:nvPr/>
          </p:nvSpPr>
          <p:spPr>
            <a:xfrm>
              <a:off x="6583680" y="1463040"/>
              <a:ext cx="4754880" cy="1280160"/>
            </a:xfrm>
            <a:prstGeom prst="roundRect">
              <a:avLst/>
            </a:prstGeom>
            <a:solidFill>
              <a:srgbClr val="E1EFFF"/>
            </a:solidFill>
            <a:ln>
              <a:solidFill>
                <a:srgbClr val="215B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sz="1400" b="1" dirty="0">
                  <a:solidFill>
                    <a:srgbClr val="215BB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Main Business Question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771640" y="2059970"/>
              <a:ext cx="443484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000">
                  <a:solidFill>
                    <a:srgbClr val="191919"/>
                  </a:solidFill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How can customer data be used to improve retention, increase revenue, and understand buying behavior?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C2A5DEA-41CC-4506-8B4E-8C4AFB3C2FAD}"/>
              </a:ext>
            </a:extLst>
          </p:cNvPr>
          <p:cNvGrpSpPr/>
          <p:nvPr/>
        </p:nvGrpSpPr>
        <p:grpSpPr>
          <a:xfrm>
            <a:off x="355600" y="6238240"/>
            <a:ext cx="11440160" cy="418592"/>
            <a:chOff x="355600" y="6238240"/>
            <a:chExt cx="11440160" cy="41859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FF3121-B2BF-4BBA-9765-1FE25BE43A77}"/>
                </a:ext>
              </a:extLst>
            </p:cNvPr>
            <p:cNvSpPr/>
            <p:nvPr/>
          </p:nvSpPr>
          <p:spPr>
            <a:xfrm>
              <a:off x="365760" y="6238240"/>
              <a:ext cx="11430000" cy="418592"/>
            </a:xfrm>
            <a:prstGeom prst="rect">
              <a:avLst/>
            </a:prstGeom>
            <a:solidFill>
              <a:srgbClr val="215BB0"/>
            </a:solidFill>
            <a:ln>
              <a:solidFill>
                <a:srgbClr val="215B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2194CA-E490-43A6-B86D-F731D7AA0FF6}"/>
                </a:ext>
              </a:extLst>
            </p:cNvPr>
            <p:cNvSpPr txBox="1"/>
            <p:nvPr/>
          </p:nvSpPr>
          <p:spPr>
            <a:xfrm>
              <a:off x="355600" y="6362276"/>
              <a:ext cx="2515432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>
                  <a:solidFill>
                    <a:srgbClr val="5A5A5A"/>
                  </a:solidFill>
                </a:defRPr>
              </a:pPr>
              <a:r>
                <a:rPr sz="1050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Built in Power BI by K</a:t>
              </a:r>
              <a:r>
                <a:rPr lang="en-US" sz="1050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elvin Etisi</a:t>
              </a:r>
              <a:endParaRPr sz="1050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1200" y="539047"/>
            <a:ext cx="3068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30352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ID / Customer ID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 / Country / City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 / Product Name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/ Unit Price /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554480"/>
            <a:ext cx="5293360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rPr dirty="0"/>
              <a:t>Payment Method / Currency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rPr dirty="0"/>
              <a:t>Acquisition Channel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rPr dirty="0"/>
              <a:t>Device Type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rPr dirty="0"/>
              <a:t>Customer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rPr dirty="0"/>
              <a:t>Repeat Purchase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5165266"/>
            <a:ext cx="1016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5A5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for this project was intentionally dirty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 cleaning, transformation, and modeling before dashboard development.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BDCBCF-2093-436E-BCD8-A1F4814FE60A}"/>
              </a:ext>
            </a:extLst>
          </p:cNvPr>
          <p:cNvGrpSpPr/>
          <p:nvPr/>
        </p:nvGrpSpPr>
        <p:grpSpPr>
          <a:xfrm>
            <a:off x="355600" y="6238240"/>
            <a:ext cx="11440160" cy="418592"/>
            <a:chOff x="355600" y="6238240"/>
            <a:chExt cx="11440160" cy="41859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91D62D-6A97-47C7-BC86-5D225F7E318E}"/>
                </a:ext>
              </a:extLst>
            </p:cNvPr>
            <p:cNvSpPr/>
            <p:nvPr/>
          </p:nvSpPr>
          <p:spPr>
            <a:xfrm>
              <a:off x="365760" y="6238240"/>
              <a:ext cx="11430000" cy="418592"/>
            </a:xfrm>
            <a:prstGeom prst="rect">
              <a:avLst/>
            </a:prstGeom>
            <a:solidFill>
              <a:srgbClr val="215BB0"/>
            </a:solidFill>
            <a:ln>
              <a:solidFill>
                <a:srgbClr val="215B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43B335-0A3B-46F6-90EC-69B4ED104546}"/>
                </a:ext>
              </a:extLst>
            </p:cNvPr>
            <p:cNvSpPr txBox="1"/>
            <p:nvPr/>
          </p:nvSpPr>
          <p:spPr>
            <a:xfrm>
              <a:off x="355600" y="6362276"/>
              <a:ext cx="2515432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>
                  <a:solidFill>
                    <a:srgbClr val="5A5A5A"/>
                  </a:solidFill>
                </a:defRPr>
              </a:pPr>
              <a:r>
                <a:rPr sz="1050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Built in Power BI by K</a:t>
              </a:r>
              <a:r>
                <a:rPr lang="en-US" sz="1050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elvin Etisi</a:t>
              </a:r>
              <a:endParaRPr sz="1050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90265"/>
            <a:ext cx="403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61175"/>
            <a:ext cx="566928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customer and transaction fields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missing and inconsistent values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revenue field for analysis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customer-level retention metrics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supporting Date, Currency, and Customer Summary tables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measures for dashboard KPIs and visuals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58E56-64F4-448B-AFF7-8B71B14CE34F}"/>
              </a:ext>
            </a:extLst>
          </p:cNvPr>
          <p:cNvGrpSpPr/>
          <p:nvPr/>
        </p:nvGrpSpPr>
        <p:grpSpPr>
          <a:xfrm>
            <a:off x="6771640" y="2557810"/>
            <a:ext cx="4754880" cy="1280160"/>
            <a:chOff x="6583680" y="1463040"/>
            <a:chExt cx="4754880" cy="1280160"/>
          </a:xfrm>
        </p:grpSpPr>
        <p:sp>
          <p:nvSpPr>
            <p:cNvPr id="9" name="Rounded Rectangle 3">
              <a:extLst>
                <a:ext uri="{FF2B5EF4-FFF2-40B4-BE49-F238E27FC236}">
                  <a16:creationId xmlns:a16="http://schemas.microsoft.com/office/drawing/2014/main" id="{714FEC13-FCC8-4C7B-9EB3-1727E8FCC930}"/>
                </a:ext>
              </a:extLst>
            </p:cNvPr>
            <p:cNvSpPr/>
            <p:nvPr/>
          </p:nvSpPr>
          <p:spPr>
            <a:xfrm>
              <a:off x="6583680" y="1463040"/>
              <a:ext cx="4754880" cy="1280160"/>
            </a:xfrm>
            <a:prstGeom prst="roundRect">
              <a:avLst/>
            </a:prstGeom>
            <a:solidFill>
              <a:srgbClr val="E1EFFF"/>
            </a:solidFill>
            <a:ln>
              <a:solidFill>
                <a:srgbClr val="215B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b="1" dirty="0">
                  <a:solidFill>
                    <a:srgbClr val="215BB0"/>
                  </a:solidFill>
                </a:rPr>
                <a:t>Why this mattered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EDF6D2-AD39-4B1B-8C4C-FA5AFBB39E66}"/>
                </a:ext>
              </a:extLst>
            </p:cNvPr>
            <p:cNvSpPr txBox="1"/>
            <p:nvPr/>
          </p:nvSpPr>
          <p:spPr>
            <a:xfrm>
              <a:off x="6771640" y="2059970"/>
              <a:ext cx="44348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800">
                  <a:solidFill>
                    <a:srgbClr val="191919"/>
                  </a:solidFill>
                </a:defRPr>
              </a:pPr>
              <a:r>
                <a:rPr lang="en-US" sz="1200" dirty="0"/>
                <a:t>A clean data model was necessary to ensure the dashboard insights were reliable, structured, and easy to interpret.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B315FB-E0E8-4180-A074-FABABAD2564A}"/>
              </a:ext>
            </a:extLst>
          </p:cNvPr>
          <p:cNvGrpSpPr/>
          <p:nvPr/>
        </p:nvGrpSpPr>
        <p:grpSpPr>
          <a:xfrm>
            <a:off x="355600" y="6238240"/>
            <a:ext cx="11440160" cy="418592"/>
            <a:chOff x="355600" y="6238240"/>
            <a:chExt cx="11440160" cy="41859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37EB396-CF35-4A7C-BFDE-54A8F91E4C54}"/>
                </a:ext>
              </a:extLst>
            </p:cNvPr>
            <p:cNvSpPr/>
            <p:nvPr/>
          </p:nvSpPr>
          <p:spPr>
            <a:xfrm>
              <a:off x="365760" y="6238240"/>
              <a:ext cx="11430000" cy="418592"/>
            </a:xfrm>
            <a:prstGeom prst="rect">
              <a:avLst/>
            </a:prstGeom>
            <a:solidFill>
              <a:srgbClr val="215BB0"/>
            </a:solidFill>
            <a:ln>
              <a:solidFill>
                <a:srgbClr val="215B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0D73020-EEC5-420D-B8D4-F4BA0ECEC765}"/>
                </a:ext>
              </a:extLst>
            </p:cNvPr>
            <p:cNvSpPr txBox="1"/>
            <p:nvPr/>
          </p:nvSpPr>
          <p:spPr>
            <a:xfrm>
              <a:off x="355600" y="6362276"/>
              <a:ext cx="2515432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>
                  <a:solidFill>
                    <a:srgbClr val="5A5A5A"/>
                  </a:solidFill>
                </a:defRPr>
              </a:pPr>
              <a:r>
                <a:rPr sz="1050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Built in Power BI by K</a:t>
              </a:r>
              <a:r>
                <a:rPr lang="en-US" sz="1050" b="1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elvin Etisi</a:t>
              </a:r>
              <a:endParaRPr sz="1050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298030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pic>
        <p:nvPicPr>
          <p:cNvPr id="3" name="Picture 2" descr="a4e10ae3-f2a7-49aa-88ac-bbced8e1f2af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11155680" cy="4617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10091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was designed in three analytical views: Customer Overview, Customer Retention, and Customer Purchase Behavior.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92240"/>
            <a:ext cx="11430000" cy="164592"/>
          </a:xfrm>
          <a:prstGeom prst="rect">
            <a:avLst/>
          </a:prstGeom>
          <a:solidFill>
            <a:srgbClr val="215BB0"/>
          </a:solidFill>
          <a:ln>
            <a:solidFill>
              <a:srgbClr val="21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Built in Power BI by KK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7840" y="299720"/>
            <a:ext cx="47268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r>
              <a:rPr lang="en-US"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Overview</a:t>
            </a:r>
          </a:p>
        </p:txBody>
      </p:sp>
      <p:pic>
        <p:nvPicPr>
          <p:cNvPr id="3" name="Picture 2" descr="a4e10ae3-f2a7-49aa-88ac-bbced8e1f2af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8160"/>
            <a:ext cx="5303520" cy="301346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548640" y="11988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recorded 653 total customers and 2,078 total orders, showing strong customer activity.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reached approximately ₦2.97bn, indicating strong commercial performance.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Retail segment generated the highest revenue among all customer groups.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and Home were the strongest spending categories.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count was relatively balanced across countries.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activity fluctuated across the year, showing seasonal buying patterns.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238240"/>
            <a:ext cx="11430000" cy="418592"/>
          </a:xfrm>
          <a:prstGeom prst="rect">
            <a:avLst/>
          </a:prstGeom>
          <a:solidFill>
            <a:srgbClr val="215BB0"/>
          </a:solidFill>
          <a:ln>
            <a:solidFill>
              <a:srgbClr val="21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5600" y="6362276"/>
            <a:ext cx="251543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rPr sz="1050" b="1" dirty="0">
                <a:solidFill>
                  <a:srgbClr val="FF0000"/>
                </a:solidFill>
                <a:latin typeface="Arial Black" panose="020B0A04020102020204" pitchFamily="34" charset="0"/>
              </a:rPr>
              <a:t>Built in Power BI by K</a:t>
            </a:r>
            <a:r>
              <a:rPr lang="en-US" sz="1050" b="1" dirty="0">
                <a:solidFill>
                  <a:srgbClr val="FF0000"/>
                </a:solidFill>
                <a:latin typeface="Arial Black" panose="020B0A04020102020204" pitchFamily="34" charset="0"/>
              </a:rPr>
              <a:t>elvin Etisi</a:t>
            </a:r>
            <a:endParaRPr sz="105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9408"/>
            <a:ext cx="46690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r>
              <a:rPr lang="en-US"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Customer Retention</a:t>
            </a:r>
          </a:p>
        </p:txBody>
      </p:sp>
      <p:pic>
        <p:nvPicPr>
          <p:cNvPr id="3" name="Picture 2" descr="c9132de8-d951-4747-9a40-59936793d32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0" y="1779259"/>
            <a:ext cx="5303520" cy="29926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5486400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rate stood at 84%, indicating a strong returning customer base.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551 customers were repeat buyers, compared to 102 one-time customers.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frequency of 3.18 shows customers purchased more than once on average.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Retail segment had the highest repeat customer count.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number of customers appeared inactive based on recency distribution.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customer activity varied across months.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36ED79-F13F-4B58-A0EE-52B9DFA6BC81}"/>
              </a:ext>
            </a:extLst>
          </p:cNvPr>
          <p:cNvSpPr/>
          <p:nvPr/>
        </p:nvSpPr>
        <p:spPr>
          <a:xfrm>
            <a:off x="365760" y="6238240"/>
            <a:ext cx="11430000" cy="418592"/>
          </a:xfrm>
          <a:prstGeom prst="rect">
            <a:avLst/>
          </a:prstGeom>
          <a:solidFill>
            <a:srgbClr val="215BB0"/>
          </a:solidFill>
          <a:ln>
            <a:solidFill>
              <a:srgbClr val="21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B6D5E-36D9-48D7-9281-A69FEC9AAC64}"/>
              </a:ext>
            </a:extLst>
          </p:cNvPr>
          <p:cNvSpPr txBox="1"/>
          <p:nvPr/>
        </p:nvSpPr>
        <p:spPr>
          <a:xfrm>
            <a:off x="355600" y="6362276"/>
            <a:ext cx="251543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rPr sz="1050" b="1" dirty="0">
                <a:solidFill>
                  <a:srgbClr val="FF0000"/>
                </a:solidFill>
                <a:latin typeface="Arial Black" panose="020B0A04020102020204" pitchFamily="34" charset="0"/>
              </a:rPr>
              <a:t>Built in Power BI by K</a:t>
            </a:r>
            <a:r>
              <a:rPr lang="en-US" sz="1050" b="1" dirty="0">
                <a:solidFill>
                  <a:srgbClr val="FF0000"/>
                </a:solidFill>
                <a:latin typeface="Arial Black" panose="020B0A04020102020204" pitchFamily="34" charset="0"/>
              </a:rPr>
              <a:t>elvin Etisi</a:t>
            </a:r>
            <a:endParaRPr sz="105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1F0BF6-9471-40ED-ACE6-5E31437330FF}"/>
              </a:ext>
            </a:extLst>
          </p:cNvPr>
          <p:cNvSpPr/>
          <p:nvPr/>
        </p:nvSpPr>
        <p:spPr>
          <a:xfrm>
            <a:off x="365760" y="6238240"/>
            <a:ext cx="11430000" cy="418592"/>
          </a:xfrm>
          <a:prstGeom prst="rect">
            <a:avLst/>
          </a:prstGeom>
          <a:solidFill>
            <a:srgbClr val="215BB0"/>
          </a:solidFill>
          <a:ln>
            <a:solidFill>
              <a:srgbClr val="21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8000" y="500072"/>
            <a:ext cx="58673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r>
              <a:rPr lang="en-US"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Purchase Behavior</a:t>
            </a:r>
          </a:p>
        </p:txBody>
      </p:sp>
      <p:pic>
        <p:nvPicPr>
          <p:cNvPr id="3" name="Picture 2" descr="0eccaa8d-cf13-4bcc-b5cd-79d7ea8c121b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9280"/>
            <a:ext cx="5303520" cy="2998221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548640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Lifetime Value (CLV) was ₦4.55M, suggesting strong long-term customer value.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purchased an average of 4.57 items per order.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customer rating was 2.62, suggesting possible satisfaction issues.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and Card were the most preferred payment methods.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was the dominant device used for purchases.</a:t>
            </a:r>
          </a:p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TikTok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Facebook performed strongly as acquisition channels.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CAC6F8-37BC-4759-A478-A03A31BE29E8}"/>
              </a:ext>
            </a:extLst>
          </p:cNvPr>
          <p:cNvSpPr txBox="1"/>
          <p:nvPr/>
        </p:nvSpPr>
        <p:spPr>
          <a:xfrm>
            <a:off x="355600" y="6362276"/>
            <a:ext cx="251543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rPr sz="1050" b="1" dirty="0">
                <a:solidFill>
                  <a:srgbClr val="FF0000"/>
                </a:solidFill>
                <a:latin typeface="Arial Black" panose="020B0A04020102020204" pitchFamily="34" charset="0"/>
              </a:rPr>
              <a:t>Built in Power BI by K</a:t>
            </a:r>
            <a:r>
              <a:rPr lang="en-US" sz="1050" b="1" dirty="0">
                <a:solidFill>
                  <a:srgbClr val="FF0000"/>
                </a:solidFill>
                <a:latin typeface="Arial Black" panose="020B0A04020102020204" pitchFamily="34" charset="0"/>
              </a:rPr>
              <a:t>elvin Etisi</a:t>
            </a:r>
            <a:endParaRPr sz="105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46A39A-20BE-4505-8685-7C36F83D451F}"/>
              </a:ext>
            </a:extLst>
          </p:cNvPr>
          <p:cNvSpPr/>
          <p:nvPr/>
        </p:nvSpPr>
        <p:spPr>
          <a:xfrm>
            <a:off x="365760" y="6238240"/>
            <a:ext cx="11430000" cy="418592"/>
          </a:xfrm>
          <a:prstGeom prst="rect">
            <a:avLst/>
          </a:prstGeom>
          <a:solidFill>
            <a:srgbClr val="215BB0"/>
          </a:solidFill>
          <a:ln>
            <a:solidFill>
              <a:srgbClr val="21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8800" y="500687"/>
            <a:ext cx="4480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Retail customer retention through loyalty and repeat purchase campaigns.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Re-engage inactive and dormant customers with personalized offers and reminders.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satisfaction by reviewing product quality, service delivery, and support experience.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more in high-performing acquisition channels such as Website,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TikTok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Facebook.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mobile shopping experience to improve conversion and retention.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high-spend categories such as Electronics and Home through targeted campaigns.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289628-100F-41E3-AFD4-7661F28DF422}"/>
              </a:ext>
            </a:extLst>
          </p:cNvPr>
          <p:cNvSpPr txBox="1"/>
          <p:nvPr/>
        </p:nvSpPr>
        <p:spPr>
          <a:xfrm>
            <a:off x="355600" y="6362276"/>
            <a:ext cx="251543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rPr sz="1050" b="1" dirty="0">
                <a:solidFill>
                  <a:srgbClr val="FF0000"/>
                </a:solidFill>
                <a:latin typeface="Arial Black" panose="020B0A04020102020204" pitchFamily="34" charset="0"/>
              </a:rPr>
              <a:t>Built in Power BI by K</a:t>
            </a:r>
            <a:r>
              <a:rPr lang="en-US" sz="1050" b="1" dirty="0">
                <a:solidFill>
                  <a:srgbClr val="FF0000"/>
                </a:solidFill>
                <a:latin typeface="Arial Black" panose="020B0A04020102020204" pitchFamily="34" charset="0"/>
              </a:rPr>
              <a:t>elvin Etisi</a:t>
            </a:r>
            <a:endParaRPr sz="105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CBB2F2-7E26-4142-8DF2-DBE6FDEA0BFE}"/>
              </a:ext>
            </a:extLst>
          </p:cNvPr>
          <p:cNvSpPr/>
          <p:nvPr/>
        </p:nvSpPr>
        <p:spPr>
          <a:xfrm>
            <a:off x="365760" y="6238240"/>
            <a:ext cx="11430000" cy="418592"/>
          </a:xfrm>
          <a:prstGeom prst="rect">
            <a:avLst/>
          </a:prstGeom>
          <a:solidFill>
            <a:srgbClr val="215BB0"/>
          </a:solidFill>
          <a:ln>
            <a:solidFill>
              <a:srgbClr val="21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8552" y="677458"/>
            <a:ext cx="3098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2412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provides a clear view of customer behavior, retention, and purchase patterns.</a:t>
            </a:r>
          </a:p>
          <a:p>
            <a:pPr>
              <a:spcAft>
                <a:spcPts val="800"/>
              </a:spcAft>
              <a:defRPr sz="22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shows strong customer activity, high repeat behavior, and valuable customer segments.</a:t>
            </a:r>
          </a:p>
          <a:p>
            <a:pPr>
              <a:spcAft>
                <a:spcPts val="800"/>
              </a:spcAft>
              <a:defRPr sz="22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also reveals opportunities to improve retention, customer satisfaction, and channel performance.</a:t>
            </a:r>
          </a:p>
          <a:p>
            <a:pPr>
              <a:spcAft>
                <a:spcPts val="800"/>
              </a:spcAft>
              <a:defRPr sz="2200">
                <a:solidFill>
                  <a:srgbClr val="19191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dashboard demonstrates how Power BI can transform raw customer transactions into meaningful business insights.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013D8-B75B-43F9-8079-72646904C6C1}"/>
              </a:ext>
            </a:extLst>
          </p:cNvPr>
          <p:cNvSpPr txBox="1"/>
          <p:nvPr/>
        </p:nvSpPr>
        <p:spPr>
          <a:xfrm>
            <a:off x="355600" y="6362276"/>
            <a:ext cx="251543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rPr sz="1050" b="1" dirty="0">
                <a:solidFill>
                  <a:srgbClr val="FF0000"/>
                </a:solidFill>
                <a:latin typeface="Arial Black" panose="020B0A04020102020204" pitchFamily="34" charset="0"/>
              </a:rPr>
              <a:t>Built in Power BI by K</a:t>
            </a:r>
            <a:r>
              <a:rPr lang="en-US" sz="1050" b="1" dirty="0">
                <a:solidFill>
                  <a:srgbClr val="FF0000"/>
                </a:solidFill>
                <a:latin typeface="Arial Black" panose="020B0A04020102020204" pitchFamily="34" charset="0"/>
              </a:rPr>
              <a:t>elvin Etisi</a:t>
            </a:r>
            <a:endParaRPr sz="105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3383" y="1920240"/>
            <a:ext cx="5800434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15BB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viewing</a:t>
            </a:r>
          </a:p>
          <a:p>
            <a:pPr algn="ctr">
              <a:defRPr sz="2200">
                <a:solidFill>
                  <a:srgbClr val="19191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KK’s Customer Behavior &amp; Retention Dashboard</a:t>
            </a:r>
          </a:p>
          <a:p>
            <a:pPr algn="ctr">
              <a:defRPr sz="1800">
                <a:solidFill>
                  <a:srgbClr val="5A5A5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63E9DF-A381-4E61-98B0-0E9A0B634FBC}"/>
              </a:ext>
            </a:extLst>
          </p:cNvPr>
          <p:cNvSpPr/>
          <p:nvPr/>
        </p:nvSpPr>
        <p:spPr>
          <a:xfrm>
            <a:off x="365760" y="6238240"/>
            <a:ext cx="11430000" cy="418592"/>
          </a:xfrm>
          <a:prstGeom prst="rect">
            <a:avLst/>
          </a:prstGeom>
          <a:solidFill>
            <a:srgbClr val="215BB0"/>
          </a:solidFill>
          <a:ln>
            <a:solidFill>
              <a:srgbClr val="215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07143C-D432-47EA-9E0A-99129D75EC37}"/>
              </a:ext>
            </a:extLst>
          </p:cNvPr>
          <p:cNvSpPr txBox="1"/>
          <p:nvPr/>
        </p:nvSpPr>
        <p:spPr>
          <a:xfrm>
            <a:off x="355600" y="6362276"/>
            <a:ext cx="251543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rPr sz="1050" b="1" dirty="0">
                <a:solidFill>
                  <a:srgbClr val="FF0000"/>
                </a:solidFill>
                <a:latin typeface="Arial Black" panose="020B0A04020102020204" pitchFamily="34" charset="0"/>
              </a:rPr>
              <a:t>Built in Power BI by K</a:t>
            </a:r>
            <a:r>
              <a:rPr lang="en-US" sz="1050" b="1" dirty="0">
                <a:solidFill>
                  <a:srgbClr val="FF0000"/>
                </a:solidFill>
                <a:latin typeface="Arial Black" panose="020B0A04020102020204" pitchFamily="34" charset="0"/>
              </a:rPr>
              <a:t>elvin Etisi</a:t>
            </a:r>
            <a:endParaRPr sz="105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787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kelvin Etisi</cp:lastModifiedBy>
  <cp:revision>10</cp:revision>
  <dcterms:created xsi:type="dcterms:W3CDTF">2013-01-27T09:14:16Z</dcterms:created>
  <dcterms:modified xsi:type="dcterms:W3CDTF">2026-04-09T17:17:21Z</dcterms:modified>
  <cp:category/>
</cp:coreProperties>
</file>